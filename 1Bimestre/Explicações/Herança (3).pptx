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0" r:id="rId6"/>
    <p:sldId id="271" r:id="rId7"/>
    <p:sldId id="272" r:id="rId8"/>
    <p:sldId id="273" r:id="rId9"/>
    <p:sldId id="260" r:id="rId10"/>
    <p:sldId id="261" r:id="rId11"/>
    <p:sldId id="262" r:id="rId12"/>
    <p:sldId id="263" r:id="rId13"/>
    <p:sldId id="264" r:id="rId14"/>
    <p:sldId id="265" r:id="rId15"/>
    <p:sldId id="266" r:id="rId16"/>
    <p:sldId id="267" r:id="rId17"/>
    <p:sldId id="268" r:id="rId18"/>
    <p:sldId id="277" r:id="rId19"/>
    <p:sldId id="269" r:id="rId20"/>
    <p:sldId id="274" r:id="rId21"/>
    <p:sldId id="275" r:id="rId22"/>
    <p:sldId id="276" r:id="rId2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29BA25-68EB-D905-D015-4DD06CDE5399}"/>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A8F29AF9-4739-C020-C47A-82FC17E3D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F3CC4734-183C-E9F6-958C-BAA51B0CDFE8}"/>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5" name="Espaço Reservado para Rodapé 4">
            <a:extLst>
              <a:ext uri="{FF2B5EF4-FFF2-40B4-BE49-F238E27FC236}">
                <a16:creationId xmlns:a16="http://schemas.microsoft.com/office/drawing/2014/main" id="{5828B6ED-21FA-4E1D-B8F1-57FAC95BA1D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6A1F69C-B2E7-9D20-7C21-3DEBDC64E890}"/>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1799679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1AA5CC-386E-29DF-3964-C2AF6A0DBA4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76FA48F-4370-A75B-B5E8-7C949786131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9CEB494-E8B7-B666-EA5D-C08C6F62BF1C}"/>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5" name="Espaço Reservado para Rodapé 4">
            <a:extLst>
              <a:ext uri="{FF2B5EF4-FFF2-40B4-BE49-F238E27FC236}">
                <a16:creationId xmlns:a16="http://schemas.microsoft.com/office/drawing/2014/main" id="{959EC01C-4850-2152-DF2E-28C43F38DF6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5464640-C3FF-F613-692A-969E16A4D51B}"/>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764771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A6855B-7AFF-F406-8926-BEEF7ADD0F7F}"/>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C71E5D4E-302B-E756-653D-841FA561C7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07DAD5EE-6A8E-5D12-60DB-988E27EF5D41}"/>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5" name="Espaço Reservado para Rodapé 4">
            <a:extLst>
              <a:ext uri="{FF2B5EF4-FFF2-40B4-BE49-F238E27FC236}">
                <a16:creationId xmlns:a16="http://schemas.microsoft.com/office/drawing/2014/main" id="{22B4F860-5114-C393-8BC8-5CD1EF6E844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1D3A2B5-24E4-D25B-5FAB-CA9A88B20A3F}"/>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289890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8644BC-A550-302C-4356-0DF0354D87F4}"/>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ED3212D-5A69-5D5B-2852-12F0E2B6CA1D}"/>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A0248741-256F-A2B8-D440-0149457A8225}"/>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E45DC891-BCCC-D1FB-1917-C3E3127E3D27}"/>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6" name="Espaço Reservado para Rodapé 5">
            <a:extLst>
              <a:ext uri="{FF2B5EF4-FFF2-40B4-BE49-F238E27FC236}">
                <a16:creationId xmlns:a16="http://schemas.microsoft.com/office/drawing/2014/main" id="{08C55591-1A81-BFC0-111D-90C6087DBDA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443CD09-45DE-05AF-987E-A46CC852077F}"/>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3451205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739773-2ED1-5E21-2307-5F7A27A24CC5}"/>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56B8CEFA-66CD-C640-9FB2-16C1A8441B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3BBCCFC9-9E8A-85A5-C6DD-F31937B04AF5}"/>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D7D3DA56-5C5E-D0F3-AEB4-0A630376DA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B9952773-4C04-7E3F-F9F3-386B33072840}"/>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ABA25CB0-7E6E-3BBD-A369-7971D1871529}"/>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8" name="Espaço Reservado para Rodapé 7">
            <a:extLst>
              <a:ext uri="{FF2B5EF4-FFF2-40B4-BE49-F238E27FC236}">
                <a16:creationId xmlns:a16="http://schemas.microsoft.com/office/drawing/2014/main" id="{175A5C7C-0C10-EB3B-E7E9-22E0E6FF1B25}"/>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B897DE69-766B-5CCC-5AC2-32CF7E213EFA}"/>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2143320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B8F7A-9899-1301-7050-C3BEA804A735}"/>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8C4E5E8B-CD44-0F0B-84B5-9CAC3AF56CD3}"/>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4" name="Espaço Reservado para Rodapé 3">
            <a:extLst>
              <a:ext uri="{FF2B5EF4-FFF2-40B4-BE49-F238E27FC236}">
                <a16:creationId xmlns:a16="http://schemas.microsoft.com/office/drawing/2014/main" id="{8A8323CE-C391-4210-603D-16BAB59F12D8}"/>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C3F49CAE-7A58-7D58-A12D-DA7723785A9E}"/>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961634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A19F6B79-F068-AA78-7C1B-7CAC624CB40F}"/>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3" name="Espaço Reservado para Rodapé 2">
            <a:extLst>
              <a:ext uri="{FF2B5EF4-FFF2-40B4-BE49-F238E27FC236}">
                <a16:creationId xmlns:a16="http://schemas.microsoft.com/office/drawing/2014/main" id="{753DAFFF-928B-1092-15D2-DBF47D595A81}"/>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FD45475-F3C0-51D3-BEC5-A2DE01776055}"/>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1552316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A5DD8B-276F-3288-BADC-91A9E1786298}"/>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ACF27B70-402D-B360-8F23-BEEFBEF017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46914B3B-D92F-43E3-6363-BE5609DC1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ECAD299-8E8D-3C14-9E40-94933A465293}"/>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6" name="Espaço Reservado para Rodapé 5">
            <a:extLst>
              <a:ext uri="{FF2B5EF4-FFF2-40B4-BE49-F238E27FC236}">
                <a16:creationId xmlns:a16="http://schemas.microsoft.com/office/drawing/2014/main" id="{ADF0A42B-6079-5067-15BD-6FC117DACB47}"/>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8F3BD44-E795-BC8E-1068-F5BB16030DF9}"/>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170680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BF993-F35D-D728-D8CF-C02793A0474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2F851BEE-6EF4-F966-4C5B-24C70EDBA4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8E72D9C5-600C-09D6-23B5-D74A1EBD83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E505CB4-E915-FDDF-1EB7-50AC4FAF6000}"/>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6" name="Espaço Reservado para Rodapé 5">
            <a:extLst>
              <a:ext uri="{FF2B5EF4-FFF2-40B4-BE49-F238E27FC236}">
                <a16:creationId xmlns:a16="http://schemas.microsoft.com/office/drawing/2014/main" id="{D652B7BF-7448-35C5-C85D-E476F64F8FD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D808143-5AC3-088C-1442-A6DADAD4792C}"/>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1985437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8C0F41-C8AD-CFD5-3F01-81CC88B1B4D3}"/>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B24AA78-BAC3-E118-54EB-CCB0D3379227}"/>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2C681CE-8B19-41BE-9891-607959EA6D3F}"/>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5" name="Espaço Reservado para Rodapé 4">
            <a:extLst>
              <a:ext uri="{FF2B5EF4-FFF2-40B4-BE49-F238E27FC236}">
                <a16:creationId xmlns:a16="http://schemas.microsoft.com/office/drawing/2014/main" id="{2EBAC104-DCA5-753E-7E34-12FF940F90C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264B32E-82E9-1C24-E741-F057DDB573BB}"/>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30463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EF56C6A-8FC2-B0F2-BAB6-1E3E14C1E36A}"/>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33F546C-03ED-035E-C2DA-849EF56888A6}"/>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35010A3-CD1A-2416-B6A2-06AAD223E12E}"/>
              </a:ext>
            </a:extLst>
          </p:cNvPr>
          <p:cNvSpPr>
            <a:spLocks noGrp="1"/>
          </p:cNvSpPr>
          <p:nvPr>
            <p:ph type="dt" sz="half" idx="10"/>
          </p:nvPr>
        </p:nvSpPr>
        <p:spPr/>
        <p:txBody>
          <a:bodyPr/>
          <a:lstStyle/>
          <a:p>
            <a:fld id="{8672E9EF-754A-427A-91AB-21444A28D468}" type="datetimeFigureOut">
              <a:rPr lang="pt-BR" smtClean="0"/>
              <a:t>24/03/2026</a:t>
            </a:fld>
            <a:endParaRPr lang="pt-BR"/>
          </a:p>
        </p:txBody>
      </p:sp>
      <p:sp>
        <p:nvSpPr>
          <p:cNvPr id="5" name="Espaço Reservado para Rodapé 4">
            <a:extLst>
              <a:ext uri="{FF2B5EF4-FFF2-40B4-BE49-F238E27FC236}">
                <a16:creationId xmlns:a16="http://schemas.microsoft.com/office/drawing/2014/main" id="{7E2E704C-1E11-746D-8F9E-9F7D44D5645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7C2536B-1FFF-C7E2-AE4D-D4052CE3A8B8}"/>
              </a:ext>
            </a:extLst>
          </p:cNvPr>
          <p:cNvSpPr>
            <a:spLocks noGrp="1"/>
          </p:cNvSpPr>
          <p:nvPr>
            <p:ph type="sldNum" sz="quarter" idx="12"/>
          </p:nvPr>
        </p:nvSpPr>
        <p:spPr/>
        <p:txBody>
          <a:bodyPr/>
          <a:lstStyle/>
          <a:p>
            <a:fld id="{8A37588A-36B4-4B1D-8E24-0CB90F06579E}" type="slidenum">
              <a:rPr lang="pt-BR" smtClean="0"/>
              <a:t>‹nº›</a:t>
            </a:fld>
            <a:endParaRPr lang="pt-BR"/>
          </a:p>
        </p:txBody>
      </p:sp>
    </p:spTree>
    <p:extLst>
      <p:ext uri="{BB962C8B-B14F-4D97-AF65-F5344CB8AC3E}">
        <p14:creationId xmlns:p14="http://schemas.microsoft.com/office/powerpoint/2010/main" val="1081266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22284D6-7114-D833-06EE-88B2F7C7F4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5FEEA239-0C3E-206C-B8A3-37DAD0CBB7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81E3AD5-A58A-6468-4579-8437E6D49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72E9EF-754A-427A-91AB-21444A28D468}" type="datetimeFigureOut">
              <a:rPr lang="pt-BR" smtClean="0"/>
              <a:t>24/03/2026</a:t>
            </a:fld>
            <a:endParaRPr lang="pt-BR"/>
          </a:p>
        </p:txBody>
      </p:sp>
      <p:sp>
        <p:nvSpPr>
          <p:cNvPr id="5" name="Espaço Reservado para Rodapé 4">
            <a:extLst>
              <a:ext uri="{FF2B5EF4-FFF2-40B4-BE49-F238E27FC236}">
                <a16:creationId xmlns:a16="http://schemas.microsoft.com/office/drawing/2014/main" id="{1780A41A-E424-39A9-9566-3AAE9B8A45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257A512F-A2A6-3064-3E41-72CA56D467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37588A-36B4-4B1D-8E24-0CB90F06579E}" type="slidenum">
              <a:rPr lang="pt-BR" smtClean="0"/>
              <a:t>‹nº›</a:t>
            </a:fld>
            <a:endParaRPr lang="pt-BR"/>
          </a:p>
        </p:txBody>
      </p:sp>
    </p:spTree>
    <p:extLst>
      <p:ext uri="{BB962C8B-B14F-4D97-AF65-F5344CB8AC3E}">
        <p14:creationId xmlns:p14="http://schemas.microsoft.com/office/powerpoint/2010/main" val="1691613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3DC141-F023-0E17-79BF-F9243A0BF212}"/>
              </a:ext>
            </a:extLst>
          </p:cNvPr>
          <p:cNvSpPr>
            <a:spLocks noGrp="1"/>
          </p:cNvSpPr>
          <p:nvPr>
            <p:ph type="ctrTitle"/>
          </p:nvPr>
        </p:nvSpPr>
        <p:spPr/>
        <p:txBody>
          <a:bodyPr/>
          <a:lstStyle/>
          <a:p>
            <a:r>
              <a:rPr lang="pt-BR" dirty="0"/>
              <a:t>Herança</a:t>
            </a:r>
          </a:p>
        </p:txBody>
      </p:sp>
      <p:sp>
        <p:nvSpPr>
          <p:cNvPr id="3" name="Subtítulo 2">
            <a:extLst>
              <a:ext uri="{FF2B5EF4-FFF2-40B4-BE49-F238E27FC236}">
                <a16:creationId xmlns:a16="http://schemas.microsoft.com/office/drawing/2014/main" id="{C2D31404-872B-BF02-1485-745B7ABA92F7}"/>
              </a:ext>
            </a:extLst>
          </p:cNvPr>
          <p:cNvSpPr>
            <a:spLocks noGrp="1"/>
          </p:cNvSpPr>
          <p:nvPr>
            <p:ph type="subTitle" idx="1"/>
          </p:nvPr>
        </p:nvSpPr>
        <p:spPr/>
        <p:txBody>
          <a:bodyPr/>
          <a:lstStyle/>
          <a:p>
            <a:endParaRPr lang="pt-BR"/>
          </a:p>
        </p:txBody>
      </p:sp>
    </p:spTree>
    <p:extLst>
      <p:ext uri="{BB962C8B-B14F-4D97-AF65-F5344CB8AC3E}">
        <p14:creationId xmlns:p14="http://schemas.microsoft.com/office/powerpoint/2010/main" val="3960316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41453A-8FF3-22BE-5F0B-349D489583AF}"/>
              </a:ext>
            </a:extLst>
          </p:cNvPr>
          <p:cNvSpPr>
            <a:spLocks noGrp="1"/>
          </p:cNvSpPr>
          <p:nvPr>
            <p:ph type="title"/>
          </p:nvPr>
        </p:nvSpPr>
        <p:spPr/>
        <p:txBody>
          <a:bodyPr/>
          <a:lstStyle/>
          <a:p>
            <a:r>
              <a:rPr lang="pt-BR" dirty="0"/>
              <a:t>Conceitos</a:t>
            </a:r>
          </a:p>
        </p:txBody>
      </p:sp>
      <p:sp>
        <p:nvSpPr>
          <p:cNvPr id="3" name="Espaço Reservado para Conteúdo 2">
            <a:extLst>
              <a:ext uri="{FF2B5EF4-FFF2-40B4-BE49-F238E27FC236}">
                <a16:creationId xmlns:a16="http://schemas.microsoft.com/office/drawing/2014/main" id="{EF06D272-0F85-975F-21A9-F82729CC31EF}"/>
              </a:ext>
            </a:extLst>
          </p:cNvPr>
          <p:cNvSpPr>
            <a:spLocks noGrp="1"/>
          </p:cNvSpPr>
          <p:nvPr>
            <p:ph idx="1"/>
          </p:nvPr>
        </p:nvSpPr>
        <p:spPr/>
        <p:txBody>
          <a:bodyPr/>
          <a:lstStyle/>
          <a:p>
            <a:r>
              <a:rPr lang="pt-BR" dirty="0"/>
              <a:t>Associação entre classes</a:t>
            </a:r>
          </a:p>
          <a:p>
            <a:pPr lvl="1"/>
            <a:r>
              <a:rPr lang="pt-BR" dirty="0"/>
              <a:t>Generalização e Especialização</a:t>
            </a:r>
          </a:p>
          <a:p>
            <a:endParaRPr lang="pt-BR" dirty="0"/>
          </a:p>
          <a:p>
            <a:r>
              <a:rPr lang="pt-BR" dirty="0"/>
              <a:t>Classe mais genérica, chamada de classe pai ou superclasse</a:t>
            </a:r>
          </a:p>
          <a:p>
            <a:endParaRPr lang="pt-BR" dirty="0"/>
          </a:p>
          <a:p>
            <a:r>
              <a:rPr lang="pt-BR" dirty="0" err="1"/>
              <a:t>Clsse</a:t>
            </a:r>
            <a:r>
              <a:rPr lang="pt-BR" dirty="0"/>
              <a:t> mais específica, chamada de classe filha ou subclasse</a:t>
            </a:r>
          </a:p>
        </p:txBody>
      </p:sp>
    </p:spTree>
    <p:extLst>
      <p:ext uri="{BB962C8B-B14F-4D97-AF65-F5344CB8AC3E}">
        <p14:creationId xmlns:p14="http://schemas.microsoft.com/office/powerpoint/2010/main" val="2489219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CB92A2-26F8-0020-46BB-E6A8A7572151}"/>
              </a:ext>
            </a:extLst>
          </p:cNvPr>
          <p:cNvSpPr>
            <a:spLocks noGrp="1"/>
          </p:cNvSpPr>
          <p:nvPr>
            <p:ph type="title"/>
          </p:nvPr>
        </p:nvSpPr>
        <p:spPr/>
        <p:txBody>
          <a:bodyPr/>
          <a:lstStyle/>
          <a:p>
            <a:r>
              <a:rPr lang="pt-BR" dirty="0"/>
              <a:t>Conceitos</a:t>
            </a:r>
          </a:p>
        </p:txBody>
      </p:sp>
      <p:sp>
        <p:nvSpPr>
          <p:cNvPr id="3" name="Espaço Reservado para Conteúdo 2">
            <a:extLst>
              <a:ext uri="{FF2B5EF4-FFF2-40B4-BE49-F238E27FC236}">
                <a16:creationId xmlns:a16="http://schemas.microsoft.com/office/drawing/2014/main" id="{C1C5BFF6-2F5D-1DCC-A324-CA5E42A6F99F}"/>
              </a:ext>
            </a:extLst>
          </p:cNvPr>
          <p:cNvSpPr>
            <a:spLocks noGrp="1"/>
          </p:cNvSpPr>
          <p:nvPr>
            <p:ph idx="1"/>
          </p:nvPr>
        </p:nvSpPr>
        <p:spPr/>
        <p:txBody>
          <a:bodyPr/>
          <a:lstStyle/>
          <a:p>
            <a:r>
              <a:rPr lang="pt-BR" dirty="0"/>
              <a:t>Recurso das linguagens de programação orientadas a objeto</a:t>
            </a:r>
          </a:p>
          <a:p>
            <a:endParaRPr lang="pt-BR" dirty="0"/>
          </a:p>
          <a:p>
            <a:r>
              <a:rPr lang="pt-BR" dirty="0"/>
              <a:t>Recurso onde as classes filhas ou subclasses herdam variáveis e métodos da(s) classe(s) pai, ou superclasse(s)</a:t>
            </a:r>
          </a:p>
          <a:p>
            <a:endParaRPr lang="pt-BR" dirty="0"/>
          </a:p>
          <a:p>
            <a:r>
              <a:rPr lang="pt-BR" b="0" i="0" dirty="0">
                <a:solidFill>
                  <a:srgbClr val="0D0D0D"/>
                </a:solidFill>
                <a:effectLst/>
                <a:latin typeface="Söhne"/>
              </a:rPr>
              <a:t>Isso promove a reutilização de código e facilita a organização hierárquica das classes.</a:t>
            </a:r>
            <a:endParaRPr lang="pt-BR" dirty="0"/>
          </a:p>
        </p:txBody>
      </p:sp>
    </p:spTree>
    <p:extLst>
      <p:ext uri="{BB962C8B-B14F-4D97-AF65-F5344CB8AC3E}">
        <p14:creationId xmlns:p14="http://schemas.microsoft.com/office/powerpoint/2010/main" val="1712543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4760FF-BEE9-AAA8-04A8-8C891EDDC7F8}"/>
              </a:ext>
            </a:extLst>
          </p:cNvPr>
          <p:cNvSpPr>
            <a:spLocks noGrp="1"/>
          </p:cNvSpPr>
          <p:nvPr>
            <p:ph type="title"/>
          </p:nvPr>
        </p:nvSpPr>
        <p:spPr/>
        <p:txBody>
          <a:bodyPr/>
          <a:lstStyle/>
          <a:p>
            <a:r>
              <a:rPr lang="pt-BR" dirty="0"/>
              <a:t>Herança</a:t>
            </a:r>
          </a:p>
        </p:txBody>
      </p:sp>
      <p:sp>
        <p:nvSpPr>
          <p:cNvPr id="3" name="Espaço Reservado para Conteúdo 2">
            <a:extLst>
              <a:ext uri="{FF2B5EF4-FFF2-40B4-BE49-F238E27FC236}">
                <a16:creationId xmlns:a16="http://schemas.microsoft.com/office/drawing/2014/main" id="{78E87C2C-A647-4BFB-F08B-86D5C85A7E8B}"/>
              </a:ext>
            </a:extLst>
          </p:cNvPr>
          <p:cNvSpPr>
            <a:spLocks noGrp="1"/>
          </p:cNvSpPr>
          <p:nvPr>
            <p:ph idx="1"/>
          </p:nvPr>
        </p:nvSpPr>
        <p:spPr/>
        <p:txBody>
          <a:bodyPr/>
          <a:lstStyle/>
          <a:p>
            <a:endParaRPr lang="pt-BR" dirty="0"/>
          </a:p>
        </p:txBody>
      </p:sp>
      <p:pic>
        <p:nvPicPr>
          <p:cNvPr id="1028" name="Picture 4">
            <a:extLst>
              <a:ext uri="{FF2B5EF4-FFF2-40B4-BE49-F238E27FC236}">
                <a16:creationId xmlns:a16="http://schemas.microsoft.com/office/drawing/2014/main" id="{B2227BF3-6755-4A66-47A7-A3A147A66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30" y="272357"/>
            <a:ext cx="12787708" cy="5960269"/>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A54E3088-3E7C-6F13-762A-ACA08E4AF184}"/>
              </a:ext>
            </a:extLst>
          </p:cNvPr>
          <p:cNvSpPr txBox="1"/>
          <p:nvPr/>
        </p:nvSpPr>
        <p:spPr>
          <a:xfrm>
            <a:off x="8584163" y="2873829"/>
            <a:ext cx="655949" cy="369332"/>
          </a:xfrm>
          <a:prstGeom prst="rect">
            <a:avLst/>
          </a:prstGeom>
          <a:noFill/>
        </p:spPr>
        <p:txBody>
          <a:bodyPr wrap="none" rtlCol="0">
            <a:spAutoFit/>
          </a:bodyPr>
          <a:lstStyle/>
          <a:p>
            <a:r>
              <a:rPr lang="pt-BR" b="1" dirty="0">
                <a:solidFill>
                  <a:srgbClr val="FF0000"/>
                </a:solidFill>
              </a:rPr>
              <a:t>É um</a:t>
            </a:r>
          </a:p>
        </p:txBody>
      </p:sp>
    </p:spTree>
    <p:extLst>
      <p:ext uri="{BB962C8B-B14F-4D97-AF65-F5344CB8AC3E}">
        <p14:creationId xmlns:p14="http://schemas.microsoft.com/office/powerpoint/2010/main" val="254882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235992-7D70-5A34-3918-7F86228FD0B1}"/>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6006674D-9C40-D32F-3709-84556F52E1FF}"/>
              </a:ext>
            </a:extLst>
          </p:cNvPr>
          <p:cNvSpPr>
            <a:spLocks noGrp="1"/>
          </p:cNvSpPr>
          <p:nvPr>
            <p:ph idx="1"/>
          </p:nvPr>
        </p:nvSpPr>
        <p:spPr/>
        <p:txBody>
          <a:bodyPr/>
          <a:lstStyle/>
          <a:p>
            <a:r>
              <a:rPr lang="pt-BR" b="1" i="0" dirty="0">
                <a:solidFill>
                  <a:srgbClr val="0D0D0D"/>
                </a:solidFill>
                <a:effectLst/>
                <a:latin typeface="Söhne"/>
              </a:rPr>
              <a:t>Classe Base (ou Superclasse)</a:t>
            </a:r>
            <a:r>
              <a:rPr lang="pt-BR" b="0" i="0" dirty="0">
                <a:solidFill>
                  <a:srgbClr val="0D0D0D"/>
                </a:solidFill>
                <a:effectLst/>
                <a:latin typeface="Söhne"/>
              </a:rPr>
              <a:t>: Também conhecida como classe pai ou classe mãe, é a classe da qual outra classe herda. Ela contém os atributos e métodos comuns que são compartilhados pelas subclasses.</a:t>
            </a:r>
          </a:p>
          <a:p>
            <a:r>
              <a:rPr lang="pt-BR" b="1" i="0" dirty="0">
                <a:solidFill>
                  <a:srgbClr val="0D0D0D"/>
                </a:solidFill>
                <a:effectLst/>
                <a:latin typeface="Söhne"/>
              </a:rPr>
              <a:t>Classe Derivada (ou Subclasse)</a:t>
            </a:r>
            <a:r>
              <a:rPr lang="pt-BR" b="0" i="0" dirty="0">
                <a:solidFill>
                  <a:srgbClr val="0D0D0D"/>
                </a:solidFill>
                <a:effectLst/>
                <a:latin typeface="Söhne"/>
              </a:rPr>
              <a:t>: Também chamada de classe filha, é a classe que herda de outra classe. Ela pode adicionar novos atributos e métodos ou modificar os existentes, além de herdar os atributos e métodos da classe base.</a:t>
            </a:r>
            <a:endParaRPr lang="pt-BR" dirty="0"/>
          </a:p>
        </p:txBody>
      </p:sp>
    </p:spTree>
    <p:extLst>
      <p:ext uri="{BB962C8B-B14F-4D97-AF65-F5344CB8AC3E}">
        <p14:creationId xmlns:p14="http://schemas.microsoft.com/office/powerpoint/2010/main" val="1141724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B47DC8-A7FC-7226-1E4A-CFA156F81834}"/>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EF03C440-769F-C490-AC8E-47C2771021D6}"/>
              </a:ext>
            </a:extLst>
          </p:cNvPr>
          <p:cNvSpPr>
            <a:spLocks noGrp="1"/>
          </p:cNvSpPr>
          <p:nvPr>
            <p:ph idx="1"/>
          </p:nvPr>
        </p:nvSpPr>
        <p:spPr/>
        <p:txBody>
          <a:bodyPr/>
          <a:lstStyle/>
          <a:p>
            <a:r>
              <a:rPr lang="pt-BR" b="1" i="0" dirty="0">
                <a:solidFill>
                  <a:srgbClr val="0D0D0D"/>
                </a:solidFill>
                <a:effectLst/>
                <a:latin typeface="Söhne"/>
              </a:rPr>
              <a:t>Relação "</a:t>
            </a:r>
            <a:r>
              <a:rPr lang="pt-BR" b="1" i="0" dirty="0" err="1">
                <a:solidFill>
                  <a:srgbClr val="0D0D0D"/>
                </a:solidFill>
                <a:effectLst/>
                <a:latin typeface="Söhne"/>
              </a:rPr>
              <a:t>é-um</a:t>
            </a:r>
            <a:r>
              <a:rPr lang="pt-BR" b="1" i="0" dirty="0">
                <a:solidFill>
                  <a:srgbClr val="0D0D0D"/>
                </a:solidFill>
                <a:effectLst/>
                <a:latin typeface="Söhne"/>
              </a:rPr>
              <a:t>"</a:t>
            </a:r>
            <a:r>
              <a:rPr lang="pt-BR" b="0" i="0" dirty="0">
                <a:solidFill>
                  <a:srgbClr val="0D0D0D"/>
                </a:solidFill>
                <a:effectLst/>
                <a:latin typeface="Söhne"/>
              </a:rPr>
              <a:t>: A herança estabelece uma relação "</a:t>
            </a:r>
            <a:r>
              <a:rPr lang="pt-BR" b="0" i="0" dirty="0" err="1">
                <a:solidFill>
                  <a:srgbClr val="0D0D0D"/>
                </a:solidFill>
                <a:effectLst/>
                <a:latin typeface="Söhne"/>
              </a:rPr>
              <a:t>é-um</a:t>
            </a:r>
            <a:r>
              <a:rPr lang="pt-BR" b="0" i="0" dirty="0">
                <a:solidFill>
                  <a:srgbClr val="0D0D0D"/>
                </a:solidFill>
                <a:effectLst/>
                <a:latin typeface="Söhne"/>
              </a:rPr>
              <a:t>" entre a classe base e suas subclasses. Por exemplo, se temos uma classe "Animal" como classe base e uma classe "Cachorro" como uma de suas subclasses, podemos dizer que um cachorro é um tipo de animal.</a:t>
            </a:r>
          </a:p>
          <a:p>
            <a:r>
              <a:rPr lang="pt-BR" b="1" i="0" dirty="0">
                <a:solidFill>
                  <a:srgbClr val="0D0D0D"/>
                </a:solidFill>
                <a:effectLst/>
                <a:latin typeface="Söhne"/>
              </a:rPr>
              <a:t>Método de Herança</a:t>
            </a:r>
            <a:r>
              <a:rPr lang="pt-BR" b="0" i="0" dirty="0">
                <a:solidFill>
                  <a:srgbClr val="0D0D0D"/>
                </a:solidFill>
                <a:effectLst/>
                <a:latin typeface="Söhne"/>
              </a:rPr>
              <a:t>: É o processo pelo qual uma classe deriva características e comportamentos de uma classe base. Isso é feito através da declaração da relação de herança na definição da classe.</a:t>
            </a:r>
            <a:endParaRPr lang="pt-BR" dirty="0"/>
          </a:p>
        </p:txBody>
      </p:sp>
    </p:spTree>
    <p:extLst>
      <p:ext uri="{BB962C8B-B14F-4D97-AF65-F5344CB8AC3E}">
        <p14:creationId xmlns:p14="http://schemas.microsoft.com/office/powerpoint/2010/main" val="1377300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4E167D-7F75-6CDB-015D-34177B8D2FB0}"/>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5C5DDFF4-C559-1E05-18FC-F9CF6D4B08FF}"/>
              </a:ext>
            </a:extLst>
          </p:cNvPr>
          <p:cNvSpPr>
            <a:spLocks noGrp="1"/>
          </p:cNvSpPr>
          <p:nvPr>
            <p:ph idx="1"/>
          </p:nvPr>
        </p:nvSpPr>
        <p:spPr/>
        <p:txBody>
          <a:bodyPr/>
          <a:lstStyle/>
          <a:p>
            <a:r>
              <a:rPr lang="pt-BR" b="1" i="0" dirty="0">
                <a:solidFill>
                  <a:srgbClr val="0D0D0D"/>
                </a:solidFill>
                <a:effectLst/>
                <a:latin typeface="Söhne"/>
              </a:rPr>
              <a:t>Membros Privados, Protegidos e Públicos</a:t>
            </a:r>
            <a:r>
              <a:rPr lang="pt-BR" b="0" i="0" dirty="0">
                <a:solidFill>
                  <a:srgbClr val="0D0D0D"/>
                </a:solidFill>
                <a:effectLst/>
                <a:latin typeface="Söhne"/>
              </a:rPr>
              <a:t>: Na herança, membros privados da classe base não são diretamente acessíveis pelas subclasses. Membros protegidos são acessíveis pelas subclasses, enquanto membros públicos são acessíveis tanto pelas subclasses quanto por classes externas.</a:t>
            </a:r>
          </a:p>
          <a:p>
            <a:r>
              <a:rPr lang="pt-BR" b="1" i="0" dirty="0">
                <a:solidFill>
                  <a:srgbClr val="0D0D0D"/>
                </a:solidFill>
                <a:effectLst/>
                <a:latin typeface="Söhne"/>
              </a:rPr>
              <a:t>Sobrescrita de Métodos (ou </a:t>
            </a:r>
            <a:r>
              <a:rPr lang="pt-BR" b="1" i="0" dirty="0" err="1">
                <a:solidFill>
                  <a:srgbClr val="0D0D0D"/>
                </a:solidFill>
                <a:effectLst/>
                <a:latin typeface="Söhne"/>
              </a:rPr>
              <a:t>Overriding</a:t>
            </a:r>
            <a:r>
              <a:rPr lang="pt-BR" b="1" i="0" dirty="0">
                <a:solidFill>
                  <a:srgbClr val="0D0D0D"/>
                </a:solidFill>
                <a:effectLst/>
                <a:latin typeface="Söhne"/>
              </a:rPr>
              <a:t>)</a:t>
            </a:r>
            <a:r>
              <a:rPr lang="pt-BR" b="0" i="0" dirty="0">
                <a:solidFill>
                  <a:srgbClr val="0D0D0D"/>
                </a:solidFill>
                <a:effectLst/>
                <a:latin typeface="Söhne"/>
              </a:rPr>
              <a:t>: As subclasses podem fornecer implementações específicas para métodos que foram definidos na classe base. Isso permite que as subclasses personalizem o comportamento dos métodos herdados.</a:t>
            </a:r>
            <a:endParaRPr lang="pt-BR" dirty="0"/>
          </a:p>
        </p:txBody>
      </p:sp>
    </p:spTree>
    <p:extLst>
      <p:ext uri="{BB962C8B-B14F-4D97-AF65-F5344CB8AC3E}">
        <p14:creationId xmlns:p14="http://schemas.microsoft.com/office/powerpoint/2010/main" val="3094498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25E177-F447-30B0-EFDC-376B12C1313D}"/>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294F77B1-8D59-C425-AF78-8890C27CA95E}"/>
              </a:ext>
            </a:extLst>
          </p:cNvPr>
          <p:cNvSpPr>
            <a:spLocks noGrp="1"/>
          </p:cNvSpPr>
          <p:nvPr>
            <p:ph idx="1"/>
          </p:nvPr>
        </p:nvSpPr>
        <p:spPr/>
        <p:txBody>
          <a:bodyPr/>
          <a:lstStyle/>
          <a:p>
            <a:r>
              <a:rPr lang="pt-BR" b="1" i="0" dirty="0">
                <a:solidFill>
                  <a:srgbClr val="0D0D0D"/>
                </a:solidFill>
                <a:effectLst/>
                <a:latin typeface="Söhne"/>
              </a:rPr>
              <a:t>Chamada ao Método da Classe Base</a:t>
            </a:r>
            <a:r>
              <a:rPr lang="pt-BR" b="0" i="0" dirty="0">
                <a:solidFill>
                  <a:srgbClr val="0D0D0D"/>
                </a:solidFill>
                <a:effectLst/>
                <a:latin typeface="Söhne"/>
              </a:rPr>
              <a:t>: As subclasses podem chamar métodos da classe base usando a sintaxe apropriada, permitindo a reutilização de funcionalidades existentes.</a:t>
            </a:r>
          </a:p>
          <a:p>
            <a:r>
              <a:rPr lang="pt-BR" b="1" i="0" dirty="0">
                <a:solidFill>
                  <a:srgbClr val="0D0D0D"/>
                </a:solidFill>
                <a:effectLst/>
                <a:latin typeface="Söhne"/>
              </a:rPr>
              <a:t>Herança Múltipla (em algumas linguagens)</a:t>
            </a:r>
            <a:r>
              <a:rPr lang="pt-BR" b="0" i="0" dirty="0">
                <a:solidFill>
                  <a:srgbClr val="0D0D0D"/>
                </a:solidFill>
                <a:effectLst/>
                <a:latin typeface="Söhne"/>
              </a:rPr>
              <a:t>: Algumas linguagens de programação orientada a objetos suportam herança múltipla, permitindo que uma classe tenha mais de uma classe base. Isso pode levar a complexidades de design e ambiguidades e nem todas as linguagens oferecem suporte a essa característica.</a:t>
            </a:r>
            <a:endParaRPr lang="pt-BR" dirty="0"/>
          </a:p>
        </p:txBody>
      </p:sp>
    </p:spTree>
    <p:extLst>
      <p:ext uri="{BB962C8B-B14F-4D97-AF65-F5344CB8AC3E}">
        <p14:creationId xmlns:p14="http://schemas.microsoft.com/office/powerpoint/2010/main" val="3063219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A75D00-F362-8E2D-C3CE-D26EE7AFB296}"/>
              </a:ext>
            </a:extLst>
          </p:cNvPr>
          <p:cNvSpPr>
            <a:spLocks noGrp="1"/>
          </p:cNvSpPr>
          <p:nvPr>
            <p:ph type="title"/>
          </p:nvPr>
        </p:nvSpPr>
        <p:spPr/>
        <p:txBody>
          <a:bodyPr/>
          <a:lstStyle/>
          <a:p>
            <a:r>
              <a:rPr lang="pt-BR" dirty="0"/>
              <a:t>Visibilidade protegida (#)</a:t>
            </a:r>
          </a:p>
        </p:txBody>
      </p:sp>
      <p:sp>
        <p:nvSpPr>
          <p:cNvPr id="3" name="Espaço Reservado para Conteúdo 2">
            <a:extLst>
              <a:ext uri="{FF2B5EF4-FFF2-40B4-BE49-F238E27FC236}">
                <a16:creationId xmlns:a16="http://schemas.microsoft.com/office/drawing/2014/main" id="{A7FDFF23-E269-F3CB-5008-EF5DA7F9F919}"/>
              </a:ext>
            </a:extLst>
          </p:cNvPr>
          <p:cNvSpPr>
            <a:spLocks noGrp="1"/>
          </p:cNvSpPr>
          <p:nvPr>
            <p:ph idx="1"/>
          </p:nvPr>
        </p:nvSpPr>
        <p:spPr/>
        <p:txBody>
          <a:bodyPr/>
          <a:lstStyle/>
          <a:p>
            <a:r>
              <a:rPr lang="pt-BR" dirty="0"/>
              <a:t>Variável protegida é:</a:t>
            </a:r>
          </a:p>
          <a:p>
            <a:pPr lvl="1"/>
            <a:endParaRPr lang="pt-BR" dirty="0"/>
          </a:p>
          <a:p>
            <a:pPr lvl="1"/>
            <a:r>
              <a:rPr lang="pt-BR" dirty="0"/>
              <a:t>pública para as classes filhas</a:t>
            </a:r>
          </a:p>
          <a:p>
            <a:pPr lvl="1"/>
            <a:endParaRPr lang="pt-BR" dirty="0"/>
          </a:p>
          <a:p>
            <a:pPr lvl="1"/>
            <a:r>
              <a:rPr lang="pt-BR" dirty="0"/>
              <a:t>privada para as classes que não pertencem à hierarquia de herança</a:t>
            </a:r>
          </a:p>
        </p:txBody>
      </p:sp>
    </p:spTree>
    <p:extLst>
      <p:ext uri="{BB962C8B-B14F-4D97-AF65-F5344CB8AC3E}">
        <p14:creationId xmlns:p14="http://schemas.microsoft.com/office/powerpoint/2010/main" val="1237324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ED3142-73B7-E966-79C4-59714164155B}"/>
              </a:ext>
            </a:extLst>
          </p:cNvPr>
          <p:cNvSpPr>
            <a:spLocks noGrp="1"/>
          </p:cNvSpPr>
          <p:nvPr>
            <p:ph type="title"/>
          </p:nvPr>
        </p:nvSpPr>
        <p:spPr/>
        <p:txBody>
          <a:bodyPr/>
          <a:lstStyle/>
          <a:p>
            <a:r>
              <a:rPr lang="pt-BR" dirty="0"/>
              <a:t>2 tipos de herança</a:t>
            </a:r>
          </a:p>
        </p:txBody>
      </p:sp>
      <p:sp>
        <p:nvSpPr>
          <p:cNvPr id="3" name="Espaço Reservado para Conteúdo 2">
            <a:extLst>
              <a:ext uri="{FF2B5EF4-FFF2-40B4-BE49-F238E27FC236}">
                <a16:creationId xmlns:a16="http://schemas.microsoft.com/office/drawing/2014/main" id="{BBC701A8-DFF0-0D15-F459-06EC73A5B975}"/>
              </a:ext>
            </a:extLst>
          </p:cNvPr>
          <p:cNvSpPr>
            <a:spLocks noGrp="1"/>
          </p:cNvSpPr>
          <p:nvPr>
            <p:ph idx="1"/>
          </p:nvPr>
        </p:nvSpPr>
        <p:spPr/>
        <p:txBody>
          <a:bodyPr/>
          <a:lstStyle/>
          <a:p>
            <a:r>
              <a:rPr lang="pt-BR" dirty="0"/>
              <a:t>Herança simples</a:t>
            </a:r>
          </a:p>
          <a:p>
            <a:pPr lvl="1"/>
            <a:r>
              <a:rPr lang="pt-BR" dirty="0"/>
              <a:t>Classe filha ou subclasse tem apenas um único pai ou superclasse</a:t>
            </a:r>
          </a:p>
          <a:p>
            <a:pPr lvl="1"/>
            <a:endParaRPr lang="pt-BR" dirty="0"/>
          </a:p>
          <a:p>
            <a:r>
              <a:rPr lang="pt-BR" dirty="0"/>
              <a:t>Herança múltipla</a:t>
            </a:r>
          </a:p>
          <a:p>
            <a:pPr lvl="1"/>
            <a:r>
              <a:rPr lang="pt-BR" dirty="0"/>
              <a:t>Classe filha ou subclasse tem dois ou mais pais ou superclasses</a:t>
            </a:r>
          </a:p>
        </p:txBody>
      </p:sp>
    </p:spTree>
    <p:extLst>
      <p:ext uri="{BB962C8B-B14F-4D97-AF65-F5344CB8AC3E}">
        <p14:creationId xmlns:p14="http://schemas.microsoft.com/office/powerpoint/2010/main" val="2632862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3BA7BD-F6CE-73C3-0923-576723A2802B}"/>
              </a:ext>
            </a:extLst>
          </p:cNvPr>
          <p:cNvSpPr>
            <a:spLocks noGrp="1"/>
          </p:cNvSpPr>
          <p:nvPr>
            <p:ph type="title"/>
          </p:nvPr>
        </p:nvSpPr>
        <p:spPr/>
        <p:txBody>
          <a:bodyPr/>
          <a:lstStyle/>
          <a:p>
            <a:r>
              <a:rPr lang="pt-BR" dirty="0"/>
              <a:t>Herança simples</a:t>
            </a:r>
          </a:p>
        </p:txBody>
      </p:sp>
      <p:sp>
        <p:nvSpPr>
          <p:cNvPr id="3" name="Espaço Reservado para Conteúdo 2">
            <a:extLst>
              <a:ext uri="{FF2B5EF4-FFF2-40B4-BE49-F238E27FC236}">
                <a16:creationId xmlns:a16="http://schemas.microsoft.com/office/drawing/2014/main" id="{1C1E131E-8312-79F6-C3F2-640E2DA45C8A}"/>
              </a:ext>
            </a:extLst>
          </p:cNvPr>
          <p:cNvSpPr>
            <a:spLocks noGrp="1"/>
          </p:cNvSpPr>
          <p:nvPr>
            <p:ph idx="1"/>
          </p:nvPr>
        </p:nvSpPr>
        <p:spPr/>
        <p:txBody>
          <a:bodyPr/>
          <a:lstStyle/>
          <a:p>
            <a:r>
              <a:rPr lang="pt-BR" dirty="0"/>
              <a:t>Exemplo</a:t>
            </a:r>
          </a:p>
        </p:txBody>
      </p:sp>
      <p:pic>
        <p:nvPicPr>
          <p:cNvPr id="2050" name="Picture 2">
            <a:extLst>
              <a:ext uri="{FF2B5EF4-FFF2-40B4-BE49-F238E27FC236}">
                <a16:creationId xmlns:a16="http://schemas.microsoft.com/office/drawing/2014/main" id="{21098AF7-8D42-03DD-DB81-9778A67ED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638" y="2384080"/>
            <a:ext cx="8815387" cy="4108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051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DAEE79-60FE-612C-DCC9-469F2647D4E0}"/>
              </a:ext>
            </a:extLst>
          </p:cNvPr>
          <p:cNvSpPr>
            <a:spLocks noGrp="1"/>
          </p:cNvSpPr>
          <p:nvPr>
            <p:ph type="title"/>
          </p:nvPr>
        </p:nvSpPr>
        <p:spPr/>
        <p:txBody>
          <a:bodyPr/>
          <a:lstStyle/>
          <a:p>
            <a:r>
              <a:rPr lang="pt-BR" dirty="0"/>
              <a:t>Herança Múltipla</a:t>
            </a:r>
          </a:p>
        </p:txBody>
      </p:sp>
      <p:sp>
        <p:nvSpPr>
          <p:cNvPr id="3" name="Espaço Reservado para Conteúdo 2">
            <a:extLst>
              <a:ext uri="{FF2B5EF4-FFF2-40B4-BE49-F238E27FC236}">
                <a16:creationId xmlns:a16="http://schemas.microsoft.com/office/drawing/2014/main" id="{5D6483B6-0E35-C3DC-D2C1-5DCB56646971}"/>
              </a:ext>
            </a:extLst>
          </p:cNvPr>
          <p:cNvSpPr>
            <a:spLocks noGrp="1"/>
          </p:cNvSpPr>
          <p:nvPr>
            <p:ph idx="1"/>
          </p:nvPr>
        </p:nvSpPr>
        <p:spPr/>
        <p:txBody>
          <a:bodyPr/>
          <a:lstStyle/>
          <a:p>
            <a:endParaRPr lang="pt-BR"/>
          </a:p>
        </p:txBody>
      </p:sp>
      <p:pic>
        <p:nvPicPr>
          <p:cNvPr id="3074" name="Picture 2">
            <a:extLst>
              <a:ext uri="{FF2B5EF4-FFF2-40B4-BE49-F238E27FC236}">
                <a16:creationId xmlns:a16="http://schemas.microsoft.com/office/drawing/2014/main" id="{CAFC0917-B432-5FF8-FAD3-718AE0189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2062163"/>
            <a:ext cx="7277100"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3248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04DF4B-F6CC-9767-6D26-EE4E3457D4E0}"/>
              </a:ext>
            </a:extLst>
          </p:cNvPr>
          <p:cNvSpPr>
            <a:spLocks noGrp="1"/>
          </p:cNvSpPr>
          <p:nvPr>
            <p:ph type="title"/>
          </p:nvPr>
        </p:nvSpPr>
        <p:spPr/>
        <p:txBody>
          <a:bodyPr/>
          <a:lstStyle/>
          <a:p>
            <a:r>
              <a:rPr lang="pt-BR" dirty="0"/>
              <a:t>Herança com vários níveis hierárquicos</a:t>
            </a:r>
          </a:p>
        </p:txBody>
      </p:sp>
      <p:sp>
        <p:nvSpPr>
          <p:cNvPr id="3" name="Espaço Reservado para Conteúdo 2">
            <a:extLst>
              <a:ext uri="{FF2B5EF4-FFF2-40B4-BE49-F238E27FC236}">
                <a16:creationId xmlns:a16="http://schemas.microsoft.com/office/drawing/2014/main" id="{79502BDF-4DCD-3B44-EB00-8D38C7B74ABF}"/>
              </a:ext>
            </a:extLst>
          </p:cNvPr>
          <p:cNvSpPr>
            <a:spLocks noGrp="1"/>
          </p:cNvSpPr>
          <p:nvPr>
            <p:ph idx="1"/>
          </p:nvPr>
        </p:nvSpPr>
        <p:spPr/>
        <p:txBody>
          <a:bodyPr/>
          <a:lstStyle/>
          <a:p>
            <a:endParaRPr lang="pt-BR"/>
          </a:p>
        </p:txBody>
      </p:sp>
      <p:pic>
        <p:nvPicPr>
          <p:cNvPr id="4098" name="Picture 2">
            <a:extLst>
              <a:ext uri="{FF2B5EF4-FFF2-40B4-BE49-F238E27FC236}">
                <a16:creationId xmlns:a16="http://schemas.microsoft.com/office/drawing/2014/main" id="{EABF4909-C52E-ACCB-C068-92BF22F4D4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1466793"/>
            <a:ext cx="9153525" cy="5069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717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A5D150-5330-A07D-8C45-B21B8570681C}"/>
              </a:ext>
            </a:extLst>
          </p:cNvPr>
          <p:cNvSpPr>
            <a:spLocks noGrp="1"/>
          </p:cNvSpPr>
          <p:nvPr>
            <p:ph type="title"/>
          </p:nvPr>
        </p:nvSpPr>
        <p:spPr/>
        <p:txBody>
          <a:bodyPr/>
          <a:lstStyle/>
          <a:p>
            <a:r>
              <a:rPr lang="pt-BR" dirty="0"/>
              <a:t>Hands </a:t>
            </a:r>
            <a:r>
              <a:rPr lang="pt-BR" dirty="0" err="1"/>
              <a:t>On</a:t>
            </a:r>
            <a:endParaRPr lang="pt-BR" dirty="0"/>
          </a:p>
        </p:txBody>
      </p:sp>
      <p:sp>
        <p:nvSpPr>
          <p:cNvPr id="3" name="Espaço Reservado para Conteúdo 2">
            <a:extLst>
              <a:ext uri="{FF2B5EF4-FFF2-40B4-BE49-F238E27FC236}">
                <a16:creationId xmlns:a16="http://schemas.microsoft.com/office/drawing/2014/main" id="{E7C12E39-29A6-673F-4436-09B7264AB211}"/>
              </a:ext>
            </a:extLst>
          </p:cNvPr>
          <p:cNvSpPr>
            <a:spLocks noGrp="1"/>
          </p:cNvSpPr>
          <p:nvPr>
            <p:ph idx="1"/>
          </p:nvPr>
        </p:nvSpPr>
        <p:spPr/>
        <p:txBody>
          <a:bodyPr/>
          <a:lstStyle/>
          <a:p>
            <a:endParaRPr lang="pt-BR"/>
          </a:p>
        </p:txBody>
      </p:sp>
    </p:spTree>
    <p:extLst>
      <p:ext uri="{BB962C8B-B14F-4D97-AF65-F5344CB8AC3E}">
        <p14:creationId xmlns:p14="http://schemas.microsoft.com/office/powerpoint/2010/main" val="535270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694D7B-86D7-DCDD-FA66-8D8642F27502}"/>
              </a:ext>
            </a:extLst>
          </p:cNvPr>
          <p:cNvSpPr>
            <a:spLocks noGrp="1"/>
          </p:cNvSpPr>
          <p:nvPr>
            <p:ph type="title"/>
          </p:nvPr>
        </p:nvSpPr>
        <p:spPr/>
        <p:txBody>
          <a:bodyPr/>
          <a:lstStyle/>
          <a:p>
            <a:r>
              <a:rPr lang="pt-BR" dirty="0"/>
              <a:t>Anulação de métodos</a:t>
            </a:r>
          </a:p>
        </p:txBody>
      </p:sp>
      <p:sp>
        <p:nvSpPr>
          <p:cNvPr id="3" name="Espaço Reservado para Conteúdo 2">
            <a:extLst>
              <a:ext uri="{FF2B5EF4-FFF2-40B4-BE49-F238E27FC236}">
                <a16:creationId xmlns:a16="http://schemas.microsoft.com/office/drawing/2014/main" id="{2E90734D-0A6F-1DB2-4ECB-FE9779F0FD12}"/>
              </a:ext>
            </a:extLst>
          </p:cNvPr>
          <p:cNvSpPr>
            <a:spLocks noGrp="1"/>
          </p:cNvSpPr>
          <p:nvPr>
            <p:ph idx="1"/>
          </p:nvPr>
        </p:nvSpPr>
        <p:spPr/>
        <p:txBody>
          <a:bodyPr/>
          <a:lstStyle/>
          <a:p>
            <a:r>
              <a:rPr lang="pt-BR" dirty="0"/>
              <a:t> herdamos </a:t>
            </a:r>
            <a:r>
              <a:rPr lang="pt-BR" dirty="0" err="1"/>
              <a:t>toString</a:t>
            </a:r>
            <a:r>
              <a:rPr lang="pt-BR" dirty="0"/>
              <a:t>(), mas ele não é suficiente</a:t>
            </a:r>
          </a:p>
          <a:p>
            <a:r>
              <a:rPr lang="pt-BR" dirty="0"/>
              <a:t> vamos anular o método </a:t>
            </a:r>
            <a:r>
              <a:rPr lang="pt-BR" dirty="0" err="1"/>
              <a:t>toString</a:t>
            </a:r>
            <a:r>
              <a:rPr lang="pt-BR" dirty="0"/>
              <a:t>() herdado</a:t>
            </a:r>
          </a:p>
          <a:p>
            <a:endParaRPr lang="pt-BR" dirty="0"/>
          </a:p>
          <a:p>
            <a:pPr marL="0" indent="0">
              <a:buNone/>
            </a:pPr>
            <a:r>
              <a:rPr lang="pt-BR" dirty="0" err="1"/>
              <a:t>toString</a:t>
            </a:r>
            <a:r>
              <a:rPr lang="pt-BR" dirty="0"/>
              <a:t>(): </a:t>
            </a:r>
            <a:r>
              <a:rPr lang="pt-BR" dirty="0" err="1"/>
              <a:t>string</a:t>
            </a:r>
            <a:r>
              <a:rPr lang="pt-BR" dirty="0"/>
              <a:t> {</a:t>
            </a:r>
          </a:p>
          <a:p>
            <a:pPr marL="0" indent="0">
              <a:buNone/>
            </a:pPr>
            <a:r>
              <a:rPr lang="pt-BR" dirty="0"/>
              <a:t>        </a:t>
            </a:r>
            <a:r>
              <a:rPr lang="pt-BR" dirty="0" err="1"/>
              <a:t>return</a:t>
            </a:r>
            <a:r>
              <a:rPr lang="pt-BR" dirty="0"/>
              <a:t> `${</a:t>
            </a:r>
            <a:r>
              <a:rPr lang="pt-BR" dirty="0" err="1"/>
              <a:t>super.toString</a:t>
            </a:r>
            <a:r>
              <a:rPr lang="pt-BR" dirty="0"/>
              <a:t>()} </a:t>
            </a:r>
            <a:r>
              <a:rPr lang="pt-BR" dirty="0" err="1"/>
              <a:t>Poisonous</a:t>
            </a:r>
            <a:r>
              <a:rPr lang="pt-BR" dirty="0"/>
              <a:t>: ${</a:t>
            </a:r>
            <a:r>
              <a:rPr lang="pt-BR" dirty="0" err="1"/>
              <a:t>this.poisonous</a:t>
            </a:r>
            <a:r>
              <a:rPr lang="pt-BR" dirty="0"/>
              <a:t>}`</a:t>
            </a:r>
          </a:p>
          <a:p>
            <a:pPr marL="0" indent="0">
              <a:buNone/>
            </a:pPr>
            <a:r>
              <a:rPr lang="pt-BR" dirty="0"/>
              <a:t>    }</a:t>
            </a:r>
          </a:p>
        </p:txBody>
      </p:sp>
    </p:spTree>
    <p:extLst>
      <p:ext uri="{BB962C8B-B14F-4D97-AF65-F5344CB8AC3E}">
        <p14:creationId xmlns:p14="http://schemas.microsoft.com/office/powerpoint/2010/main" val="1693251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28129C-5B16-4004-368E-62697A16D13A}"/>
              </a:ext>
            </a:extLst>
          </p:cNvPr>
          <p:cNvSpPr>
            <a:spLocks noGrp="1"/>
          </p:cNvSpPr>
          <p:nvPr>
            <p:ph type="title"/>
          </p:nvPr>
        </p:nvSpPr>
        <p:spPr/>
        <p:txBody>
          <a:bodyPr/>
          <a:lstStyle/>
          <a:p>
            <a:r>
              <a:rPr lang="pt-BR" dirty="0"/>
              <a:t>Anulação de métodos</a:t>
            </a:r>
          </a:p>
        </p:txBody>
      </p:sp>
      <p:sp>
        <p:nvSpPr>
          <p:cNvPr id="3" name="Espaço Reservado para Conteúdo 2">
            <a:extLst>
              <a:ext uri="{FF2B5EF4-FFF2-40B4-BE49-F238E27FC236}">
                <a16:creationId xmlns:a16="http://schemas.microsoft.com/office/drawing/2014/main" id="{E823CF68-5FB6-0166-D340-A030174D5783}"/>
              </a:ext>
            </a:extLst>
          </p:cNvPr>
          <p:cNvSpPr>
            <a:spLocks noGrp="1"/>
          </p:cNvSpPr>
          <p:nvPr>
            <p:ph idx="1"/>
          </p:nvPr>
        </p:nvSpPr>
        <p:spPr/>
        <p:txBody>
          <a:bodyPr/>
          <a:lstStyle/>
          <a:p>
            <a:r>
              <a:rPr lang="pt-BR" dirty="0"/>
              <a:t>herdamos move(), mas não o queremos</a:t>
            </a:r>
          </a:p>
          <a:p>
            <a:r>
              <a:rPr lang="pt-BR" dirty="0"/>
              <a:t>vamos anular o método move()</a:t>
            </a:r>
          </a:p>
          <a:p>
            <a:endParaRPr lang="en-US" dirty="0"/>
          </a:p>
          <a:p>
            <a:pPr marL="0" indent="0">
              <a:buNone/>
            </a:pPr>
            <a:r>
              <a:rPr lang="en-US" dirty="0"/>
              <a:t>move(): string {</a:t>
            </a:r>
          </a:p>
          <a:p>
            <a:pPr marL="0" indent="0">
              <a:buNone/>
            </a:pPr>
            <a:r>
              <a:rPr lang="en-US" dirty="0"/>
              <a:t>        return `snake crawling`</a:t>
            </a:r>
          </a:p>
          <a:p>
            <a:pPr marL="0" indent="0">
              <a:buNone/>
            </a:pPr>
            <a:r>
              <a:rPr lang="en-US" dirty="0"/>
              <a:t>    }</a:t>
            </a:r>
            <a:endParaRPr lang="pt-BR" dirty="0"/>
          </a:p>
        </p:txBody>
      </p:sp>
    </p:spTree>
    <p:extLst>
      <p:ext uri="{BB962C8B-B14F-4D97-AF65-F5344CB8AC3E}">
        <p14:creationId xmlns:p14="http://schemas.microsoft.com/office/powerpoint/2010/main" val="3720342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FACD38-48FD-1781-ECF3-DDE3CE4287FE}"/>
              </a:ext>
            </a:extLst>
          </p:cNvPr>
          <p:cNvSpPr>
            <a:spLocks noGrp="1"/>
          </p:cNvSpPr>
          <p:nvPr>
            <p:ph type="title"/>
          </p:nvPr>
        </p:nvSpPr>
        <p:spPr/>
        <p:txBody>
          <a:bodyPr/>
          <a:lstStyle/>
          <a:p>
            <a:r>
              <a:rPr lang="pt-BR" dirty="0"/>
              <a:t>Polimorfismo de herança</a:t>
            </a:r>
          </a:p>
        </p:txBody>
      </p:sp>
      <p:sp>
        <p:nvSpPr>
          <p:cNvPr id="3" name="Espaço Reservado para Conteúdo 2">
            <a:extLst>
              <a:ext uri="{FF2B5EF4-FFF2-40B4-BE49-F238E27FC236}">
                <a16:creationId xmlns:a16="http://schemas.microsoft.com/office/drawing/2014/main" id="{B52881FC-906B-EC5C-7F3A-782722ACE285}"/>
              </a:ext>
            </a:extLst>
          </p:cNvPr>
          <p:cNvSpPr>
            <a:spLocks noGrp="1"/>
          </p:cNvSpPr>
          <p:nvPr>
            <p:ph idx="1"/>
          </p:nvPr>
        </p:nvSpPr>
        <p:spPr/>
        <p:txBody>
          <a:bodyPr/>
          <a:lstStyle/>
          <a:p>
            <a:r>
              <a:rPr lang="pt-BR" dirty="0"/>
              <a:t>Em programação, o polimorfismo é a capacidade de um objeto ser referenciado de várias formas, ou seja, permitir que variáveis de um tipo genérico (classe pai) chamem métodos que se comportam de maneira específica dependendo do tipo real do objeto (classe filha).</a:t>
            </a:r>
            <a:endParaRPr lang="pt-BR" b="0" i="0" dirty="0">
              <a:solidFill>
                <a:srgbClr val="0D0D0D"/>
              </a:solidFill>
              <a:effectLst/>
              <a:latin typeface="Söhne"/>
            </a:endParaRPr>
          </a:p>
        </p:txBody>
      </p:sp>
    </p:spTree>
    <p:extLst>
      <p:ext uri="{BB962C8B-B14F-4D97-AF65-F5344CB8AC3E}">
        <p14:creationId xmlns:p14="http://schemas.microsoft.com/office/powerpoint/2010/main" val="2730472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67D299-2439-A91D-E60D-378D96AD769C}"/>
              </a:ext>
            </a:extLst>
          </p:cNvPr>
          <p:cNvSpPr>
            <a:spLocks noGrp="1"/>
          </p:cNvSpPr>
          <p:nvPr>
            <p:ph type="title"/>
          </p:nvPr>
        </p:nvSpPr>
        <p:spPr/>
        <p:txBody>
          <a:bodyPr/>
          <a:lstStyle/>
          <a:p>
            <a:r>
              <a:rPr lang="pt-BR" dirty="0"/>
              <a:t>Polimorfismo de Sobrescrita (Anulação de Método)</a:t>
            </a:r>
          </a:p>
        </p:txBody>
      </p:sp>
      <p:sp>
        <p:nvSpPr>
          <p:cNvPr id="3" name="Espaço Reservado para Conteúdo 2">
            <a:extLst>
              <a:ext uri="{FF2B5EF4-FFF2-40B4-BE49-F238E27FC236}">
                <a16:creationId xmlns:a16="http://schemas.microsoft.com/office/drawing/2014/main" id="{FD04F5A2-C4C0-53ED-7C0C-795CD8D17FFC}"/>
              </a:ext>
            </a:extLst>
          </p:cNvPr>
          <p:cNvSpPr>
            <a:spLocks noGrp="1"/>
          </p:cNvSpPr>
          <p:nvPr>
            <p:ph idx="1"/>
          </p:nvPr>
        </p:nvSpPr>
        <p:spPr/>
        <p:txBody>
          <a:bodyPr/>
          <a:lstStyle/>
          <a:p>
            <a:r>
              <a:rPr lang="pt-BR" b="1" dirty="0"/>
              <a:t>O que acontece:</a:t>
            </a:r>
            <a:r>
              <a:rPr lang="pt-BR" dirty="0"/>
              <a:t> A subclasse redefine um método que já existe na classe pai usando a anotação @Override.</a:t>
            </a:r>
          </a:p>
          <a:p>
            <a:r>
              <a:rPr lang="pt-BR" b="1" dirty="0"/>
              <a:t>Quando ocorre:</a:t>
            </a:r>
            <a:r>
              <a:rPr lang="pt-BR" dirty="0"/>
              <a:t> Em tempo de execução (</a:t>
            </a:r>
            <a:r>
              <a:rPr lang="pt-BR" i="1" dirty="0" err="1"/>
              <a:t>Runtime</a:t>
            </a:r>
            <a:r>
              <a:rPr lang="pt-BR" dirty="0"/>
              <a:t>). O Java descobre qual método chamar olhando para o objeto real criado na memória.</a:t>
            </a:r>
          </a:p>
          <a:p>
            <a:r>
              <a:rPr lang="pt-BR" b="1" dirty="0"/>
              <a:t>Exemplo Prático:</a:t>
            </a:r>
            <a:r>
              <a:rPr lang="pt-BR" dirty="0"/>
              <a:t> Se você tem uma lista de Desenvolvedores e chama o método .</a:t>
            </a:r>
            <a:r>
              <a:rPr lang="pt-BR" dirty="0" err="1"/>
              <a:t>calcularBonus</a:t>
            </a:r>
            <a:r>
              <a:rPr lang="pt-BR" dirty="0"/>
              <a:t>(), o Java executará o cálculo de 5% para o Junior e o de 15% para o </a:t>
            </a:r>
            <a:r>
              <a:rPr lang="pt-BR" dirty="0" err="1"/>
              <a:t>Senior</a:t>
            </a:r>
            <a:r>
              <a:rPr lang="pt-BR" dirty="0"/>
              <a:t> automaticamente.</a:t>
            </a:r>
          </a:p>
          <a:p>
            <a:endParaRPr lang="pt-BR" dirty="0"/>
          </a:p>
        </p:txBody>
      </p:sp>
    </p:spTree>
    <p:extLst>
      <p:ext uri="{BB962C8B-B14F-4D97-AF65-F5344CB8AC3E}">
        <p14:creationId xmlns:p14="http://schemas.microsoft.com/office/powerpoint/2010/main" val="1089495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A3FD43-D1A9-9273-6FD1-B16FE2181B8E}"/>
              </a:ext>
            </a:extLst>
          </p:cNvPr>
          <p:cNvSpPr>
            <a:spLocks noGrp="1"/>
          </p:cNvSpPr>
          <p:nvPr>
            <p:ph type="title"/>
          </p:nvPr>
        </p:nvSpPr>
        <p:spPr/>
        <p:txBody>
          <a:bodyPr/>
          <a:lstStyle/>
          <a:p>
            <a:r>
              <a:rPr lang="pt-BR" dirty="0"/>
              <a:t>Polimorfismo - exemplo</a:t>
            </a:r>
          </a:p>
        </p:txBody>
      </p:sp>
      <p:sp>
        <p:nvSpPr>
          <p:cNvPr id="3" name="Espaço Reservado para Conteúdo 2">
            <a:extLst>
              <a:ext uri="{FF2B5EF4-FFF2-40B4-BE49-F238E27FC236}">
                <a16:creationId xmlns:a16="http://schemas.microsoft.com/office/drawing/2014/main" id="{E51ACE5B-359F-FBBA-71A1-B778FD2F6402}"/>
              </a:ext>
            </a:extLst>
          </p:cNvPr>
          <p:cNvSpPr>
            <a:spLocks noGrp="1"/>
          </p:cNvSpPr>
          <p:nvPr>
            <p:ph idx="1"/>
          </p:nvPr>
        </p:nvSpPr>
        <p:spPr/>
        <p:txBody>
          <a:bodyPr>
            <a:normAutofit fontScale="92500" lnSpcReduction="10000"/>
          </a:bodyPr>
          <a:lstStyle/>
          <a:p>
            <a:pPr marL="0" indent="0">
              <a:buNone/>
            </a:pPr>
            <a:r>
              <a:rPr lang="pt-BR" dirty="0" err="1"/>
              <a:t>function</a:t>
            </a:r>
            <a:r>
              <a:rPr lang="pt-BR" dirty="0"/>
              <a:t> </a:t>
            </a:r>
            <a:r>
              <a:rPr lang="pt-BR" dirty="0" err="1"/>
              <a:t>exemploPolimorfismo</a:t>
            </a:r>
            <a:r>
              <a:rPr lang="pt-BR" dirty="0"/>
              <a:t>(</a:t>
            </a:r>
            <a:r>
              <a:rPr lang="pt-BR" dirty="0" err="1"/>
              <a:t>cameleao</a:t>
            </a:r>
            <a:r>
              <a:rPr lang="pt-BR" dirty="0"/>
              <a:t>: Animal): </a:t>
            </a:r>
            <a:r>
              <a:rPr lang="pt-BR" dirty="0" err="1"/>
              <a:t>void</a:t>
            </a:r>
            <a:r>
              <a:rPr lang="pt-BR" dirty="0"/>
              <a:t>{</a:t>
            </a:r>
          </a:p>
          <a:p>
            <a:pPr marL="0" indent="0">
              <a:buNone/>
            </a:pPr>
            <a:r>
              <a:rPr lang="pt-BR" dirty="0"/>
              <a:t>    // se a função for chamada passando uma cobra, </a:t>
            </a:r>
            <a:r>
              <a:rPr lang="pt-BR" dirty="0" err="1"/>
              <a:t>camaleao</a:t>
            </a:r>
            <a:r>
              <a:rPr lang="pt-BR" dirty="0"/>
              <a:t> vai representar uma cobra</a:t>
            </a:r>
          </a:p>
          <a:p>
            <a:pPr marL="0" indent="0">
              <a:buNone/>
            </a:pPr>
            <a:r>
              <a:rPr lang="pt-BR" dirty="0"/>
              <a:t>    // e portanto, será executado o </a:t>
            </a:r>
            <a:r>
              <a:rPr lang="pt-BR" dirty="0" err="1"/>
              <a:t>toString</a:t>
            </a:r>
            <a:r>
              <a:rPr lang="pt-BR" dirty="0"/>
              <a:t>() e o move() da cobra</a:t>
            </a:r>
          </a:p>
          <a:p>
            <a:pPr marL="0" indent="0">
              <a:buNone/>
            </a:pPr>
            <a:r>
              <a:rPr lang="pt-BR" dirty="0"/>
              <a:t>    // se a função for chamada passando um cavalo, </a:t>
            </a:r>
            <a:r>
              <a:rPr lang="pt-BR" dirty="0" err="1"/>
              <a:t>camaleao</a:t>
            </a:r>
            <a:r>
              <a:rPr lang="pt-BR" dirty="0"/>
              <a:t> vai representar um cavalo</a:t>
            </a:r>
          </a:p>
          <a:p>
            <a:pPr marL="0" indent="0">
              <a:buNone/>
            </a:pPr>
            <a:r>
              <a:rPr lang="pt-BR" dirty="0"/>
              <a:t>    // e portanto, será executado o </a:t>
            </a:r>
            <a:r>
              <a:rPr lang="pt-BR" dirty="0" err="1"/>
              <a:t>toString</a:t>
            </a:r>
            <a:r>
              <a:rPr lang="pt-BR" dirty="0"/>
              <a:t>() e o move() do cavalo</a:t>
            </a:r>
          </a:p>
          <a:p>
            <a:pPr marL="0" indent="0">
              <a:buNone/>
            </a:pPr>
            <a:r>
              <a:rPr lang="pt-BR" dirty="0"/>
              <a:t>    console.log(</a:t>
            </a:r>
            <a:r>
              <a:rPr lang="pt-BR" dirty="0" err="1"/>
              <a:t>cameleao.toString</a:t>
            </a:r>
            <a:r>
              <a:rPr lang="pt-BR" dirty="0"/>
              <a:t>()) // polimorfismo</a:t>
            </a:r>
          </a:p>
          <a:p>
            <a:pPr marL="0" indent="0">
              <a:buNone/>
            </a:pPr>
            <a:r>
              <a:rPr lang="pt-BR" dirty="0"/>
              <a:t>    console.log(</a:t>
            </a:r>
            <a:r>
              <a:rPr lang="pt-BR" dirty="0" err="1"/>
              <a:t>cameleao.move</a:t>
            </a:r>
            <a:r>
              <a:rPr lang="pt-BR" dirty="0"/>
              <a:t>()) // polimorfismo</a:t>
            </a:r>
          </a:p>
          <a:p>
            <a:pPr marL="0" indent="0">
              <a:buNone/>
            </a:pPr>
            <a:r>
              <a:rPr lang="pt-BR" dirty="0"/>
              <a:t>}</a:t>
            </a:r>
          </a:p>
        </p:txBody>
      </p:sp>
    </p:spTree>
    <p:extLst>
      <p:ext uri="{BB962C8B-B14F-4D97-AF65-F5344CB8AC3E}">
        <p14:creationId xmlns:p14="http://schemas.microsoft.com/office/powerpoint/2010/main" val="586327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9DC683-98DE-3D8E-1B5D-1725A4F84284}"/>
              </a:ext>
            </a:extLst>
          </p:cNvPr>
          <p:cNvSpPr>
            <a:spLocks noGrp="1"/>
          </p:cNvSpPr>
          <p:nvPr>
            <p:ph type="title"/>
          </p:nvPr>
        </p:nvSpPr>
        <p:spPr/>
        <p:txBody>
          <a:bodyPr/>
          <a:lstStyle/>
          <a:p>
            <a:r>
              <a:rPr lang="pt-BR" dirty="0"/>
              <a:t>Classe Abstrata</a:t>
            </a:r>
          </a:p>
        </p:txBody>
      </p:sp>
      <p:sp>
        <p:nvSpPr>
          <p:cNvPr id="3" name="Espaço Reservado para Conteúdo 2">
            <a:extLst>
              <a:ext uri="{FF2B5EF4-FFF2-40B4-BE49-F238E27FC236}">
                <a16:creationId xmlns:a16="http://schemas.microsoft.com/office/drawing/2014/main" id="{3F5EBC58-B7DF-BB7C-43F6-BD4A73EA701D}"/>
              </a:ext>
            </a:extLst>
          </p:cNvPr>
          <p:cNvSpPr>
            <a:spLocks noGrp="1"/>
          </p:cNvSpPr>
          <p:nvPr>
            <p:ph idx="1"/>
          </p:nvPr>
        </p:nvSpPr>
        <p:spPr/>
        <p:txBody>
          <a:bodyPr/>
          <a:lstStyle/>
          <a:p>
            <a:r>
              <a:rPr lang="pt-BR" dirty="0">
                <a:solidFill>
                  <a:srgbClr val="0D0D0D"/>
                </a:solidFill>
                <a:latin typeface="Söhne"/>
              </a:rPr>
              <a:t>É</a:t>
            </a:r>
            <a:r>
              <a:rPr lang="pt-BR" b="0" i="0" dirty="0">
                <a:solidFill>
                  <a:srgbClr val="0D0D0D"/>
                </a:solidFill>
                <a:effectLst/>
                <a:latin typeface="Söhne"/>
              </a:rPr>
              <a:t> uma classe que não pode ser instanciada diretamente, mas pode ser usada como uma superclasse para outras classes. </a:t>
            </a:r>
          </a:p>
          <a:p>
            <a:r>
              <a:rPr lang="pt-BR" b="0" i="0" dirty="0">
                <a:solidFill>
                  <a:srgbClr val="0D0D0D"/>
                </a:solidFill>
                <a:effectLst/>
                <a:latin typeface="Söhne"/>
              </a:rPr>
              <a:t>Ela serve como um esqueleto para outras classes que estendem dela, fornecendo implementações parciais ou completas de métodos, enquanto ainda permitindo que subclasses forneçam suas próprias implementações.</a:t>
            </a:r>
            <a:endParaRPr lang="pt-BR" dirty="0"/>
          </a:p>
        </p:txBody>
      </p:sp>
    </p:spTree>
    <p:extLst>
      <p:ext uri="{BB962C8B-B14F-4D97-AF65-F5344CB8AC3E}">
        <p14:creationId xmlns:p14="http://schemas.microsoft.com/office/powerpoint/2010/main" val="448650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012410-0766-7186-7875-32735ED1EF0A}"/>
              </a:ext>
            </a:extLst>
          </p:cNvPr>
          <p:cNvSpPr>
            <a:spLocks noGrp="1"/>
          </p:cNvSpPr>
          <p:nvPr>
            <p:ph type="title"/>
          </p:nvPr>
        </p:nvSpPr>
        <p:spPr/>
        <p:txBody>
          <a:bodyPr/>
          <a:lstStyle/>
          <a:p>
            <a:r>
              <a:rPr lang="pt-BR" dirty="0"/>
              <a:t>Classe Abstrata</a:t>
            </a:r>
          </a:p>
        </p:txBody>
      </p:sp>
      <p:sp>
        <p:nvSpPr>
          <p:cNvPr id="3" name="Espaço Reservado para Conteúdo 2">
            <a:extLst>
              <a:ext uri="{FF2B5EF4-FFF2-40B4-BE49-F238E27FC236}">
                <a16:creationId xmlns:a16="http://schemas.microsoft.com/office/drawing/2014/main" id="{6979D5FC-1650-F3AE-D77F-084353FB803E}"/>
              </a:ext>
            </a:extLst>
          </p:cNvPr>
          <p:cNvSpPr>
            <a:spLocks noGrp="1"/>
          </p:cNvSpPr>
          <p:nvPr>
            <p:ph idx="1"/>
          </p:nvPr>
        </p:nvSpPr>
        <p:spPr/>
        <p:txBody>
          <a:bodyPr/>
          <a:lstStyle/>
          <a:p>
            <a:r>
              <a:rPr lang="pt-BR" dirty="0"/>
              <a:t>Uma classe abstrata é declarada usando a palavra-chave abstract antes da palavra-chave class.</a:t>
            </a:r>
          </a:p>
          <a:p>
            <a:r>
              <a:rPr lang="pt-BR" dirty="0"/>
              <a:t>Uma classe abstrata pode conter métodos abstratos, que são métodos declarados sem uma implementação.</a:t>
            </a:r>
          </a:p>
          <a:p>
            <a:r>
              <a:rPr lang="pt-BR" dirty="0"/>
              <a:t>Métodos abstratos são definidos usando a palavra-chave abstract e terminam com um ponto e vírgula, sem corpo.</a:t>
            </a:r>
          </a:p>
          <a:p>
            <a:r>
              <a:rPr lang="pt-BR" dirty="0"/>
              <a:t>Subclasses devem fornecer implementações para todos os métodos abstratos da classe abstrata.</a:t>
            </a:r>
          </a:p>
        </p:txBody>
      </p:sp>
    </p:spTree>
    <p:extLst>
      <p:ext uri="{BB962C8B-B14F-4D97-AF65-F5344CB8AC3E}">
        <p14:creationId xmlns:p14="http://schemas.microsoft.com/office/powerpoint/2010/main" val="2978935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EDA35A-2E2B-B616-CD09-8F4102AED646}"/>
              </a:ext>
            </a:extLst>
          </p:cNvPr>
          <p:cNvSpPr>
            <a:spLocks noGrp="1"/>
          </p:cNvSpPr>
          <p:nvPr>
            <p:ph type="title"/>
          </p:nvPr>
        </p:nvSpPr>
        <p:spPr/>
        <p:txBody>
          <a:bodyPr/>
          <a:lstStyle/>
          <a:p>
            <a:r>
              <a:rPr lang="pt-BR" dirty="0"/>
              <a:t>Classe Abstrata</a:t>
            </a:r>
          </a:p>
        </p:txBody>
      </p:sp>
      <p:sp>
        <p:nvSpPr>
          <p:cNvPr id="3" name="Espaço Reservado para Conteúdo 2">
            <a:extLst>
              <a:ext uri="{FF2B5EF4-FFF2-40B4-BE49-F238E27FC236}">
                <a16:creationId xmlns:a16="http://schemas.microsoft.com/office/drawing/2014/main" id="{2D621B92-B16C-9070-4CE6-0084937486A1}"/>
              </a:ext>
            </a:extLst>
          </p:cNvPr>
          <p:cNvSpPr>
            <a:spLocks noGrp="1"/>
          </p:cNvSpPr>
          <p:nvPr>
            <p:ph idx="1"/>
          </p:nvPr>
        </p:nvSpPr>
        <p:spPr/>
        <p:txBody>
          <a:bodyPr/>
          <a:lstStyle/>
          <a:p>
            <a:r>
              <a:rPr lang="pt-BR" dirty="0"/>
              <a:t>Além de métodos abstratos, uma classe abstrata pode conter métodos concretos (ou normais) com implementações.</a:t>
            </a:r>
          </a:p>
          <a:p>
            <a:r>
              <a:rPr lang="pt-BR" dirty="0"/>
              <a:t>Os métodos concretos podem ser herdados pelas subclasses ou sobrescritos, se necessário.</a:t>
            </a:r>
          </a:p>
          <a:p>
            <a:r>
              <a:rPr lang="pt-BR" dirty="0"/>
              <a:t>Subclasses devem fornecer implementações para todos os métodos abstratos herdados da classe abstrata.</a:t>
            </a:r>
          </a:p>
        </p:txBody>
      </p:sp>
    </p:spTree>
    <p:extLst>
      <p:ext uri="{BB962C8B-B14F-4D97-AF65-F5344CB8AC3E}">
        <p14:creationId xmlns:p14="http://schemas.microsoft.com/office/powerpoint/2010/main" val="143382547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TotalTime>
  <Words>946</Words>
  <Application>Microsoft Office PowerPoint</Application>
  <PresentationFormat>Widescreen</PresentationFormat>
  <Paragraphs>82</Paragraphs>
  <Slides>22</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22</vt:i4>
      </vt:variant>
    </vt:vector>
  </HeadingPairs>
  <TitlesOfParts>
    <vt:vector size="27" baseType="lpstr">
      <vt:lpstr>Arial</vt:lpstr>
      <vt:lpstr>Calibri</vt:lpstr>
      <vt:lpstr>Calibri Light</vt:lpstr>
      <vt:lpstr>Söhne</vt:lpstr>
      <vt:lpstr>Tema do Office</vt:lpstr>
      <vt:lpstr>Herança</vt:lpstr>
      <vt:lpstr>Conceitos</vt:lpstr>
      <vt:lpstr>Conceitos</vt:lpstr>
      <vt:lpstr>Herança</vt:lpstr>
      <vt:lpstr>Apresentação do PowerPoint</vt:lpstr>
      <vt:lpstr>Apresentação do PowerPoint</vt:lpstr>
      <vt:lpstr>Apresentação do PowerPoint</vt:lpstr>
      <vt:lpstr>Apresentação do PowerPoint</vt:lpstr>
      <vt:lpstr>Visibilidade protegida (#)</vt:lpstr>
      <vt:lpstr>2 tipos de herança</vt:lpstr>
      <vt:lpstr>Herança simples</vt:lpstr>
      <vt:lpstr>Herança Múltipla</vt:lpstr>
      <vt:lpstr>Herança com vários níveis hierárquicos</vt:lpstr>
      <vt:lpstr>Hands On</vt:lpstr>
      <vt:lpstr>Anulação de métodos</vt:lpstr>
      <vt:lpstr>Anulação de métodos</vt:lpstr>
      <vt:lpstr>Polimorfismo de herança</vt:lpstr>
      <vt:lpstr>Polimorfismo de Sobrescrita (Anulação de Método)</vt:lpstr>
      <vt:lpstr>Polimorfismo - exemplo</vt:lpstr>
      <vt:lpstr>Classe Abstrata</vt:lpstr>
      <vt:lpstr>Classe Abstrata</vt:lpstr>
      <vt:lpstr>Classe Abstrata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Herança</dc:title>
  <dc:creator>Daniel Facciolo Pires</dc:creator>
  <cp:lastModifiedBy>Daniel Facciolo Pires</cp:lastModifiedBy>
  <cp:revision>8</cp:revision>
  <dcterms:created xsi:type="dcterms:W3CDTF">2023-03-27T12:57:22Z</dcterms:created>
  <dcterms:modified xsi:type="dcterms:W3CDTF">2026-03-24T19:28:45Z</dcterms:modified>
</cp:coreProperties>
</file>